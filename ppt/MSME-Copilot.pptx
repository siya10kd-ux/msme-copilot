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ans" panose="020B0502040504020204" pitchFamily="34" charset="0"/>
      <p:regular r:id="rId13"/>
      <p:bold r:id="rId14"/>
    </p:embeddedFont>
    <p:embeddedFont>
      <p:font typeface="Noto Sans Bold" panose="020B0802040504020204" charset="0"/>
      <p:regular r:id="rId15"/>
    </p:embeddedFont>
    <p:embeddedFont>
      <p:font typeface="Noto Sans SemiBold" panose="020B0604020202020204" charset="0"/>
      <p:regular r:id="rId16"/>
    </p:embeddedFont>
    <p:embeddedFont>
      <p:font typeface="Sora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4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1148" y="260250"/>
            <a:ext cx="5333867" cy="1645841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MSME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Copilot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9548" y="1906091"/>
            <a:ext cx="533386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AI multi-agent system that gives small businesses their own finance, inventory, and supplier analyst — for free, offline, and in real 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9440" y="3271044"/>
            <a:ext cx="7269319" cy="114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6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</a:rPr>
              <a:t>THE CODEBREAKERS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3600" dirty="0">
              <a:solidFill>
                <a:srgbClr val="E0D6DE"/>
              </a:solidFill>
              <a:latin typeface="Noto Sans" pitchFamily="34" charset="0"/>
              <a:ea typeface="Noto Sans" pitchFamily="34" charset="-122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42" y="0"/>
            <a:ext cx="589265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24602A-7627-3639-27E1-802353EC08FE}"/>
              </a:ext>
            </a:extLst>
          </p:cNvPr>
          <p:cNvSpPr txBox="1"/>
          <p:nvPr/>
        </p:nvSpPr>
        <p:spPr>
          <a:xfrm>
            <a:off x="1463040" y="5222240"/>
            <a:ext cx="356616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199E6-AF91-9958-039C-5C3EC0366815}"/>
              </a:ext>
            </a:extLst>
          </p:cNvPr>
          <p:cNvSpPr txBox="1"/>
          <p:nvPr/>
        </p:nvSpPr>
        <p:spPr>
          <a:xfrm>
            <a:off x="1457881" y="4299972"/>
            <a:ext cx="32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Siya Kiran Dharwadkar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Shiven Garg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Harshal Yadav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Helen Ann Biju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1789" y="691455"/>
            <a:ext cx="2793930" cy="2438102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Small businesses operate with delayed signals.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31789" y="3737769"/>
            <a:ext cx="27939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 the time the signal is visible, the decision is already urgent.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89298" y="533400"/>
            <a:ext cx="3759106" cy="2819400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4368691" y="12636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Cash-flow blindness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68691" y="17335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live view of what is owed, due, or affordable.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00800" y="533400"/>
            <a:ext cx="3759106" cy="2819400"/>
          </a:xfrm>
          <a:custGeom>
            <a:avLst/>
            <a:gdLst/>
            <a:ahLst/>
            <a:cxnLst/>
            <a:rect l="l" t="t" r="r" b="b"/>
            <a:pathLst>
              <a:path w="3759106" h="2819400">
                <a:moveTo>
                  <a:pt x="0" y="0"/>
                </a:moveTo>
                <a:lnTo>
                  <a:pt x="3736878" y="0"/>
                </a:lnTo>
                <a:arcTo wR="22228" hR="22229" stAng="16200000" swAng="5400000"/>
                <a:lnTo>
                  <a:pt x="3759106" y="2819400"/>
                </a:lnTo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812800"/>
            <a:ext cx="355591" cy="355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80193" y="12636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Stockouts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80193" y="17335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Inventory risk is spotted after demand has already arrived.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89298" y="3505200"/>
            <a:ext cx="3759106" cy="2819400"/>
          </a:xfrm>
          <a:prstGeom prst="rect">
            <a:avLst/>
          </a:prstGeom>
          <a:solidFill>
            <a:srgbClr val="14141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3784600"/>
            <a:ext cx="355591" cy="355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68691" y="42354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Supplier drift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368691" y="47053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 deliveries surface through follow-up messages, not a system.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00800" y="3505200"/>
            <a:ext cx="3759106" cy="2819400"/>
          </a:xfrm>
          <a:custGeom>
            <a:avLst/>
            <a:gdLst/>
            <a:ahLst/>
            <a:cxnLst/>
            <a:rect l="l" t="t" r="r" b="b"/>
            <a:pathLst>
              <a:path w="3759106" h="2819400">
                <a:moveTo>
                  <a:pt x="0" y="0"/>
                </a:moveTo>
                <a:lnTo>
                  <a:pt x="3759106" y="0"/>
                </a:lnTo>
                <a:lnTo>
                  <a:pt x="3759106" y="2797171"/>
                </a:lnTo>
                <a:arcTo wR="22228" hR="22229" stAng="0" swAng="5400000"/>
                <a:lnTo>
                  <a:pt x="0" y="28194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193" y="3784600"/>
            <a:ext cx="355591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0193" y="4235450"/>
            <a:ext cx="3200320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forecasting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80193" y="4705350"/>
            <a:ext cx="320032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Spreadsheets record the past but rarely explain what happens next.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013440" y="6459834"/>
            <a:ext cx="1178255" cy="3981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ECC7F9-3CA3-8299-2320-7ED17AA8D7E8}"/>
              </a:ext>
            </a:extLst>
          </p:cNvPr>
          <p:cNvSpPr/>
          <p:nvPr/>
        </p:nvSpPr>
        <p:spPr>
          <a:xfrm>
            <a:off x="10957712" y="6561431"/>
            <a:ext cx="1178255" cy="276247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109716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One local-first copilot turns business data into action.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4185" y="1864816"/>
            <a:ext cx="116075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Messy files become specialized analysis, then decisions a business can use immediately.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4185" y="2367657"/>
            <a:ext cx="2082748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1981" y="2845197"/>
            <a:ext cx="1727058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8" name="Text 6"/>
          <p:cNvSpPr/>
          <p:nvPr/>
        </p:nvSpPr>
        <p:spPr>
          <a:xfrm>
            <a:off x="761981" y="2916932"/>
            <a:ext cx="1727157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Ingest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1981" y="3335338"/>
            <a:ext cx="172715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Invoices, purchase orders, and inventory sheets.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19230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11" name="Text 9"/>
          <p:cNvSpPr/>
          <p:nvPr/>
        </p:nvSpPr>
        <p:spPr>
          <a:xfrm>
            <a:off x="2997026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97026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97026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Route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97026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document and question reaches the right agent.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54374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16" name="Text 14"/>
          <p:cNvSpPr/>
          <p:nvPr/>
        </p:nvSpPr>
        <p:spPr>
          <a:xfrm>
            <a:off x="5232170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32170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32170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Reason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32170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Finance, inventory, and supplier context connect.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89518" y="2367657"/>
            <a:ext cx="2082847" cy="1942802"/>
          </a:xfrm>
          <a:prstGeom prst="rect">
            <a:avLst/>
          </a:prstGeom>
          <a:solidFill>
            <a:srgbClr val="141419"/>
          </a:solidFill>
          <a:ln/>
        </p:spPr>
      </p:sp>
      <p:sp>
        <p:nvSpPr>
          <p:cNvPr id="21" name="Text 19"/>
          <p:cNvSpPr/>
          <p:nvPr/>
        </p:nvSpPr>
        <p:spPr>
          <a:xfrm>
            <a:off x="7467314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67314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67314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67314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Insights become purchase orders and next steps.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24663" y="2367657"/>
            <a:ext cx="2082847" cy="1942802"/>
          </a:xfrm>
          <a:prstGeom prst="rect">
            <a:avLst/>
          </a:prstGeom>
          <a:solidFill>
            <a:srgbClr val="355DCC"/>
          </a:solidFill>
          <a:ln/>
        </p:spPr>
      </p:sp>
      <p:sp>
        <p:nvSpPr>
          <p:cNvPr id="26" name="Text 24"/>
          <p:cNvSpPr/>
          <p:nvPr/>
        </p:nvSpPr>
        <p:spPr>
          <a:xfrm>
            <a:off x="9702458" y="2596257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02458" y="2845197"/>
            <a:ext cx="1727256" cy="19050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28" name="Text 26"/>
          <p:cNvSpPr/>
          <p:nvPr/>
        </p:nvSpPr>
        <p:spPr>
          <a:xfrm>
            <a:off x="9702458" y="2916932"/>
            <a:ext cx="172725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Ask again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02458" y="3335338"/>
            <a:ext cx="172725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Dashboard, CLI, or Q&amp;A chat keeps the loop open.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5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F82F42-9599-BDF3-30B3-3847C7CD85B9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Built for the constraints enterprise tools ignore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140386"/>
              </p:ext>
            </p:extLst>
          </p:nvPr>
        </p:nvGraphicFramePr>
        <p:xfrm>
          <a:off x="584185" y="1392436"/>
          <a:ext cx="11023325" cy="3075804"/>
        </p:xfrm>
        <a:graphic>
          <a:graphicData uri="http://schemas.openxmlformats.org/drawingml/2006/table">
            <a:tbl>
              <a:tblPr/>
              <a:tblGrid>
                <a:gridCol w="1710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DIMENSION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MANUAL SPREADSHEETS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ENTERPRISE ERP / SAP / ZOHO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kern="0" spc="126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MSME COPILOT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Cost model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Low license cost; high operator time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Per-seat SaaS and implementation overhead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No per-seat SaaS pricing; local-first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Reasoning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Static records and manual formulas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Dashboards plus configured workflows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Multi-agent reasoning across business context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3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Data posture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Scattered files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Cloud-dependent by default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Runs fully offline with local Ollama models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Time to insight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Delayed and follow-up driven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Setup-heavy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Real-time analysis and generated actions</a:t>
                      </a:r>
                      <a:endParaRPr lang="en-US" sz="12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48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84185" y="1890204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4185" y="2645835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84185" y="3401466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4185" y="3934853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5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595724-F0E9-3B72-6623-3DB32BF486D7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786" y="539055"/>
            <a:ext cx="11074123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LangGraph Orchestrator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1265436"/>
            <a:ext cx="110741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Documents and questions enter one stateful graph. Specialized agents reason in sequence and parallel, then a business advisor turns analysis into next actions.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561134"/>
            <a:ext cx="11074123" cy="31432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718A7-FC7F-151D-129B-C10B53744A2B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Five agents, one business answer.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9168"/>
              </p:ext>
            </p:extLst>
          </p:nvPr>
        </p:nvGraphicFramePr>
        <p:xfrm>
          <a:off x="584185" y="1392436"/>
          <a:ext cx="11023325" cy="4285252"/>
        </p:xfrm>
        <a:graphic>
          <a:graphicData uri="http://schemas.openxmlformats.org/drawingml/2006/table">
            <a:tbl>
              <a:tblPr/>
              <a:tblGrid>
                <a:gridCol w="2645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1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6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2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AGENT</a:t>
                      </a:r>
                      <a:endParaRPr lang="en-US" sz="1050" b="1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RESPONSIBILITY</a:t>
                      </a:r>
                      <a:endParaRPr lang="en-US" sz="1050" b="1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kern="0" spc="126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OLLAMA MODEL</a:t>
                      </a:r>
                      <a:endParaRPr lang="en-US" sz="1050" b="1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Document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Parse invoices, POs, inventory sheets via OCR/text extraction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 / mistral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Finance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Cash-flow analysis, payment terms, cost margins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Inventory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Forecasting, stockout risk, reorder points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 / qwen2.5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9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Supplier Agent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Delay detection, reliability scoring, lead time analysis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mistral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Business Advisor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Synthesizes all agents, answers natural language questions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llama3.2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65E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4185" y="1737808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84185" y="2525783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4"/>
          <p:cNvSpPr/>
          <p:nvPr/>
        </p:nvSpPr>
        <p:spPr>
          <a:xfrm>
            <a:off x="584185" y="3313759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84185" y="4101735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84185" y="4889710"/>
            <a:ext cx="11023324" cy="635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69" y="2068484"/>
            <a:ext cx="158746" cy="15875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869" y="2849537"/>
            <a:ext cx="158746" cy="15875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85" y="3631162"/>
            <a:ext cx="158746" cy="15875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69" y="4406110"/>
            <a:ext cx="158746" cy="15875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69" y="5194356"/>
            <a:ext cx="158746" cy="1587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F47046-4F97-57CF-E34B-1CFC02BE8BC0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 built the hard middle; the edges are next.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84185" y="1655266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Document parsing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073672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files move into structured context.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4185" y="2725738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Multi-agent orchestration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4185" y="3144143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LangGraph coordinates specialist reasoning.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185" y="3796209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 Ollama routing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4185" y="4214614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 run without sending business data away.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4185" y="4866680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Agent-to-agent state passing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5285085"/>
            <a:ext cx="59688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specialist contributes to one answer.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244" y="1417836"/>
            <a:ext cx="594345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PLANNED / IN PROGRESS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48244" y="1655266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Supplier API integration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2073672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 live delivery and supplier signals.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48244" y="2725738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Production auth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48244" y="3144143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robust permissions for real deployments.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8244" y="3796209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Marketplace connectors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48244" y="4214614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into GST, UPI, and marketplace workflows.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8244" y="4866680"/>
            <a:ext cx="535926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Mobile and WhatsApp interfaces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48244" y="5285085"/>
            <a:ext cx="594345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Bring the same answer to everyday channels.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4185" y="5692677"/>
            <a:ext cx="11023324" cy="754706"/>
          </a:xfrm>
          <a:prstGeom prst="roundRect">
            <a:avLst>
              <a:gd name="adj" fmla="val 2831"/>
            </a:avLst>
          </a:prstGeom>
          <a:solidFill>
            <a:srgbClr val="3159D6"/>
          </a:solidFill>
          <a:ln/>
        </p:spPr>
      </p:sp>
      <p:sp>
        <p:nvSpPr>
          <p:cNvPr id="23" name="Text 21"/>
          <p:cNvSpPr/>
          <p:nvPr/>
        </p:nvSpPr>
        <p:spPr>
          <a:xfrm>
            <a:off x="761980" y="5855080"/>
            <a:ext cx="106677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Hardest challenge solved:</a:t>
            </a:r>
            <a:r>
              <a:rPr lang="en-US" sz="14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coordinating heterogeneous agents through shared state while keeping the system local, inspectable, and useful.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4185" y="2544763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84185" y="3615234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84185" y="4685705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48244" y="2544763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48244" y="3615234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48244" y="4685705"/>
            <a:ext cx="5359266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05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5797B84-9608-DCFE-73B0-5780A04EC314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6" y="0"/>
            <a:ext cx="6908627" cy="6858000"/>
          </a:xfrm>
          <a:custGeom>
            <a:avLst/>
            <a:gdLst/>
            <a:ahLst/>
            <a:cxnLst/>
            <a:rect l="l" t="t" r="r" b="b"/>
            <a:pathLst>
              <a:path w="6908627" h="6858000">
                <a:moveTo>
                  <a:pt x="22228" y="0"/>
                </a:moveTo>
                <a:lnTo>
                  <a:pt x="6908627" y="0"/>
                </a:lnTo>
                <a:lnTo>
                  <a:pt x="6908627" y="6858000"/>
                </a:lnTo>
                <a:lnTo>
                  <a:pt x="22228" y="6858000"/>
                </a:lnTo>
                <a:arcTo wR="22228" hR="22229" stAng="5400000" swAng="5400000"/>
                <a:lnTo>
                  <a:pt x="0" y="22229"/>
                </a:lnTo>
                <a:arcTo wR="22228" hR="22229" stAng="10800000" swAng="5400000"/>
                <a:close/>
              </a:path>
            </a:pathLst>
          </a:custGeom>
          <a:solidFill>
            <a:srgbClr val="141419"/>
          </a:solidFill>
          <a:ln/>
        </p:spPr>
      </p:sp>
      <p:sp>
        <p:nvSpPr>
          <p:cNvPr id="4" name="Text 2"/>
          <p:cNvSpPr/>
          <p:nvPr/>
        </p:nvSpPr>
        <p:spPr>
          <a:xfrm>
            <a:off x="406390" y="589855"/>
            <a:ext cx="6095848" cy="1544141"/>
          </a:xfrm>
          <a:prstGeom prst="rect">
            <a:avLst/>
          </a:prstGeom>
          <a:noFill/>
          <a:ln/>
        </p:spPr>
        <p:txBody>
          <a:bodyPr wrap="square" lIns="0" tIns="101598" rIns="0" bIns="101598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Local-first architecture scales by adding capability, not complexity.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6390" y="2254647"/>
            <a:ext cx="2011610" cy="19050"/>
          </a:xfrm>
          <a:prstGeom prst="roundRect">
            <a:avLst>
              <a:gd name="adj" fmla="val 49999"/>
            </a:avLst>
          </a:prstGeom>
          <a:solidFill>
            <a:srgbClr val="97B8FF"/>
          </a:solidFill>
          <a:ln/>
        </p:spPr>
      </p:sp>
      <p:sp>
        <p:nvSpPr>
          <p:cNvPr id="6" name="Text 4"/>
          <p:cNvSpPr/>
          <p:nvPr/>
        </p:nvSpPr>
        <p:spPr>
          <a:xfrm>
            <a:off x="406390" y="2476897"/>
            <a:ext cx="609584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More capability enters the same graph instead of creating another system to maintain.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691" y="3969048"/>
            <a:ext cx="67054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LADDER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691" y="4322679"/>
            <a:ext cx="67054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Files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Agents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Workflows</a:t>
            </a: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</a:t>
            </a:r>
            <a:r>
              <a:rPr lang="en-US" sz="1400" b="1" dirty="0">
                <a:solidFill>
                  <a:srgbClr val="97B8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Partners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89618" y="431800"/>
            <a:ext cx="49020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63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CAPABILITY EXPANSION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89618" y="627955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More document types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89618" y="1097855"/>
            <a:ext cx="49020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parsers and route them into the same graph.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89618" y="1584821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More MSMEs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89618" y="2054721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data local; package repeatable workflows for associations and partners.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89618" y="2790527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Higher volume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89618" y="3260427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daily runs, parallelize independent agents, and reuse state.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89618" y="4811613"/>
            <a:ext cx="4521087" cy="19050"/>
          </a:xfrm>
          <a:prstGeom prst="roundRect">
            <a:avLst>
              <a:gd name="adj" fmla="val 49999"/>
            </a:avLst>
          </a:prstGeom>
          <a:solidFill>
            <a:srgbClr val="97B8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89618" y="5033863"/>
            <a:ext cx="490207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89618" y="5458619"/>
            <a:ext cx="4521087" cy="4064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Freemium local-first tool.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89618" y="5928519"/>
            <a:ext cx="45210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 through B2B licensing to MSME associations or fintech partners.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89740" y="6459835"/>
            <a:ext cx="70195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0" spc="126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0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917973-043A-C8AE-C999-795D203B1622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185" y="691455"/>
            <a:ext cx="11023324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From offline copilot to business operating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4185" y="1417836"/>
            <a:ext cx="116075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first job is local clarity. The next is connected action across the ecosystem.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5" y="1895277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185" y="2444552"/>
            <a:ext cx="3445781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Near-term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84185" y="2862957"/>
            <a:ext cx="34457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dashboard · WhatsApp bot interface · Multilingual OCR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155" y="1895277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7155" y="2444552"/>
            <a:ext cx="3217286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Mid-term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87155" y="2862957"/>
            <a:ext cx="321728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analytics · Supplier negotiation agent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629" y="1895277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61629" y="2444552"/>
            <a:ext cx="3445880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161629" y="2862957"/>
            <a:ext cx="34458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Marketplace integrations: GST · UPI · logistics APIs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52211" y="1895277"/>
            <a:ext cx="12700" cy="14653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926685" y="1895277"/>
            <a:ext cx="12700" cy="146536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403D93-9B4B-6357-C621-DC1733B0D0A2}"/>
              </a:ext>
            </a:extLst>
          </p:cNvPr>
          <p:cNvSpPr/>
          <p:nvPr/>
        </p:nvSpPr>
        <p:spPr>
          <a:xfrm>
            <a:off x="11043920" y="6447382"/>
            <a:ext cx="1066800" cy="398165"/>
          </a:xfrm>
          <a:prstGeom prst="roundRect">
            <a:avLst/>
          </a:prstGeom>
          <a:solidFill>
            <a:srgbClr val="07070C"/>
          </a:solidFill>
          <a:ln>
            <a:solidFill>
              <a:srgbClr val="0707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07070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2588" y="1724620"/>
            <a:ext cx="5943451" cy="1645841"/>
          </a:xfrm>
          <a:prstGeom prst="rect">
            <a:avLst/>
          </a:prstGeom>
          <a:noFill/>
          <a:ln/>
        </p:spPr>
        <p:txBody>
          <a:bodyPr wrap="square" lIns="0" tIns="152396" rIns="0" bIns="152396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MSME</a:t>
            </a:r>
            <a:endParaRPr lang="en-US" sz="4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Copilot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82588" y="3449637"/>
            <a:ext cx="594345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Finance, inventory, and supplier intelligence — offline, real time, and built for the businesses that cannot afford an enterprise stack.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82588" y="5386288"/>
            <a:ext cx="5943451" cy="65018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2588" y="6112669"/>
            <a:ext cx="65530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 / </a:t>
            </a:r>
            <a:r>
              <a:rPr lang="en-US" sz="1050" b="1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Breakers</a:t>
            </a:r>
            <a:endParaRPr lang="en-US" sz="1050" b="1" dirty="0"/>
          </a:p>
        </p:txBody>
      </p:sp>
      <p:sp>
        <p:nvSpPr>
          <p:cNvPr id="7" name="Shape 5"/>
          <p:cNvSpPr/>
          <p:nvPr/>
        </p:nvSpPr>
        <p:spPr>
          <a:xfrm>
            <a:off x="6908627" y="0"/>
            <a:ext cx="5283068" cy="6858000"/>
          </a:xfrm>
          <a:custGeom>
            <a:avLst/>
            <a:gdLst/>
            <a:ahLst/>
            <a:cxnLst/>
            <a:rect l="l" t="t" r="r" b="b"/>
            <a:pathLst>
              <a:path w="5283068" h="6858000">
                <a:moveTo>
                  <a:pt x="0" y="0"/>
                </a:moveTo>
                <a:lnTo>
                  <a:pt x="5260839" y="0"/>
                </a:lnTo>
                <a:arcTo wR="22228" hR="22229" stAng="16200000" swAng="5400000"/>
                <a:lnTo>
                  <a:pt x="5283068" y="6835771"/>
                </a:lnTo>
                <a:arcTo wR="22228" hR="22229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41419"/>
          </a:solidFill>
          <a:ln/>
        </p:spPr>
      </p:sp>
      <p:sp>
        <p:nvSpPr>
          <p:cNvPr id="9" name="Text 7"/>
          <p:cNvSpPr/>
          <p:nvPr/>
        </p:nvSpPr>
        <p:spPr>
          <a:xfrm>
            <a:off x="7391215" y="1008162"/>
            <a:ext cx="4317892" cy="2222500"/>
          </a:xfrm>
          <a:prstGeom prst="rect">
            <a:avLst/>
          </a:prstGeom>
          <a:noFill/>
          <a:ln/>
        </p:spPr>
        <p:txBody>
          <a:bodyPr wrap="square" lIns="0" tIns="158746" rIns="0" bIns="158746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One answer.</a:t>
            </a:r>
            <a:endParaRPr lang="en-US" sz="5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Local by default.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391215" y="3294162"/>
            <a:ext cx="431779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91215" y="3516412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91215" y="3807817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Invoices · POs · inventory sheets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91215" y="4556423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91215" y="4847828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Five specialized agents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91215" y="5596434"/>
            <a:ext cx="48004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91215" y="5887839"/>
            <a:ext cx="4317892" cy="345380"/>
          </a:xfrm>
          <a:prstGeom prst="rect">
            <a:avLst/>
          </a:prstGeom>
          <a:noFill/>
          <a:ln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Insights · purchase orders · answers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91215" y="4321473"/>
            <a:ext cx="4317892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91215" y="5361484"/>
            <a:ext cx="4317892" cy="1270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717</Words>
  <Application>Microsoft Office PowerPoint</Application>
  <PresentationFormat>Widescreen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Sans</vt:lpstr>
      <vt:lpstr>Sora Medium</vt:lpstr>
      <vt:lpstr>Arial</vt:lpstr>
      <vt:lpstr>Noto Sans Bold</vt:lpstr>
      <vt:lpstr>Noto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Harshal</dc:creator>
  <cp:lastModifiedBy>Harshal Yadav</cp:lastModifiedBy>
  <cp:revision>12</cp:revision>
  <dcterms:created xsi:type="dcterms:W3CDTF">2026-09-16T10:23:30Z</dcterms:created>
  <dcterms:modified xsi:type="dcterms:W3CDTF">2026-09-16T10:44:59Z</dcterms:modified>
</cp:coreProperties>
</file>